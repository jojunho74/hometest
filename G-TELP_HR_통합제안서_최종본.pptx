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9" r:id="rId2"/>
  </p:sldIdLst>
  <p:sldSz cx="7269163" cy="10277475"/>
  <p:notesSz cx="10277475" cy="7269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0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8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DF53-64B8-8EEF-E993-E1675FD3E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B0874-799C-34DB-09FD-F4F2A8EDD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0099F-EA83-3183-6932-B1EC587B5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22EDE-FA6B-862A-FDA7-B96E6D1C4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0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D96D-2F19-6D51-71EC-A490ED69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4307A7-8948-8D3B-CC72-F1959C913656}"/>
              </a:ext>
            </a:extLst>
          </p:cNvPr>
          <p:cNvSpPr/>
          <p:nvPr/>
        </p:nvSpPr>
        <p:spPr>
          <a:xfrm>
            <a:off x="0" y="0"/>
            <a:ext cx="7269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7399D6-219F-E279-0307-74B3C39A2E11}"/>
              </a:ext>
            </a:extLst>
          </p:cNvPr>
          <p:cNvSpPr/>
          <p:nvPr/>
        </p:nvSpPr>
        <p:spPr>
          <a:xfrm>
            <a:off x="32004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BPET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1F0CCC-1A48-3187-4A33-30F40FFFF7C6}"/>
              </a:ext>
            </a:extLst>
          </p:cNvPr>
          <p:cNvSpPr/>
          <p:nvPr/>
        </p:nvSpPr>
        <p:spPr>
          <a:xfrm>
            <a:off x="320040" y="56692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/>
              <a:t>영어역량기반 채용 </a:t>
            </a:r>
            <a:r>
              <a:rPr lang="en-US" altLang="ko-KR" dirty="0"/>
              <a:t>=</a:t>
            </a:r>
            <a:r>
              <a:rPr lang="ko-KR" altLang="en-US" dirty="0"/>
              <a:t> 효과 검증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8E2559-A965-2968-80A6-E3DB6C7CEA71}"/>
              </a:ext>
            </a:extLst>
          </p:cNvPr>
          <p:cNvSpPr/>
          <p:nvPr/>
        </p:nvSpPr>
        <p:spPr>
          <a:xfrm>
            <a:off x="320040" y="1042416"/>
            <a:ext cx="6629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FF98EF-36E0-0302-38CD-B540292B9896}"/>
              </a:ext>
            </a:extLst>
          </p:cNvPr>
          <p:cNvSpPr txBox="1"/>
          <p:nvPr/>
        </p:nvSpPr>
        <p:spPr>
          <a:xfrm>
            <a:off x="320039" y="5884545"/>
            <a:ext cx="6766561" cy="41088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영어 관련 </a:t>
            </a:r>
            <a:r>
              <a:rPr lang="ko-KR" altLang="en-US" sz="1100" b="1" i="0" dirty="0">
                <a:solidFill>
                  <a:srgbClr val="27251E"/>
                </a:solidFill>
                <a:effectLst/>
                <a:latin typeface="pplxSerif"/>
              </a:rPr>
              <a:t>역량기반 채용</a:t>
            </a: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도 </a:t>
            </a:r>
            <a:r>
              <a:rPr lang="ko-KR" altLang="en-US" sz="1100" dirty="0">
                <a:solidFill>
                  <a:srgbClr val="27251E"/>
                </a:solidFill>
                <a:latin typeface="pplxSerif"/>
              </a:rPr>
              <a:t>필요합니다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 </a:t>
            </a:r>
          </a:p>
          <a:p>
            <a:pPr algn="l">
              <a:buNone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영어는 이력서보다 실제 업무 수행 능력을 검증하는 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skills-based hiring</a:t>
            </a: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의 적용 분야와 잘 맞습니다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ko-KR" altLang="en-US" sz="1100" b="1" i="0" dirty="0">
                <a:solidFill>
                  <a:srgbClr val="27251E"/>
                </a:solidFill>
                <a:effectLst/>
                <a:latin typeface="pplxSerif"/>
              </a:rPr>
              <a:t>영어 역량기반 채용 포인트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50" b="1" i="0" dirty="0">
                <a:solidFill>
                  <a:srgbClr val="27251E"/>
                </a:solidFill>
                <a:effectLst/>
                <a:latin typeface="pplxSerif"/>
              </a:rPr>
              <a:t>언어 테스트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로 읽기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쓰기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듣기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말하기를 직접 확인할 수 있습니다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50" b="1" i="0" dirty="0">
                <a:solidFill>
                  <a:srgbClr val="27251E"/>
                </a:solidFill>
                <a:effectLst/>
                <a:latin typeface="pplxSerif"/>
              </a:rPr>
              <a:t>실무 과제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로 이메일 작성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고객응대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회의 요약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번역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·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검수 같은 업무 </a:t>
            </a:r>
            <a:r>
              <a:rPr lang="ko-KR" altLang="en-US" sz="1050" b="0" i="0" dirty="0" err="1">
                <a:solidFill>
                  <a:srgbClr val="27251E"/>
                </a:solidFill>
                <a:effectLst/>
                <a:latin typeface="pplxSerif"/>
              </a:rPr>
              <a:t>수행력을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 볼 수 있습니다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50" b="1" i="0" dirty="0">
                <a:solidFill>
                  <a:srgbClr val="27251E"/>
                </a:solidFill>
                <a:effectLst/>
                <a:latin typeface="pplxSerif"/>
              </a:rPr>
              <a:t>구조화된 평가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를 쓰면 주관적 면접보다 공정성과 일관성이 높아집니다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50" b="1" i="0" dirty="0">
                <a:solidFill>
                  <a:srgbClr val="27251E"/>
                </a:solidFill>
                <a:effectLst/>
                <a:latin typeface="pplxSerif"/>
              </a:rPr>
              <a:t>글로벌 채용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에서는 영어 숙련도가 생산성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협업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, </a:t>
            </a:r>
            <a:r>
              <a:rPr lang="ko-KR" altLang="en-US" sz="1050" b="0" i="0" dirty="0">
                <a:solidFill>
                  <a:srgbClr val="27251E"/>
                </a:solidFill>
                <a:effectLst/>
                <a:latin typeface="pplxSerif"/>
              </a:rPr>
              <a:t>고객경험과 직결됩니다</a:t>
            </a:r>
            <a:r>
              <a:rPr lang="en-US" altLang="ko-KR" sz="105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ko-KR" altLang="en-US" sz="1100" b="1" i="0" dirty="0">
                <a:solidFill>
                  <a:srgbClr val="27251E"/>
                </a:solidFill>
                <a:effectLst/>
                <a:latin typeface="pplxSerif"/>
              </a:rPr>
              <a:t>채용 포인트 </a:t>
            </a:r>
            <a:r>
              <a:rPr lang="en-US" altLang="ko-KR" sz="1100" b="1" i="0" dirty="0">
                <a:solidFill>
                  <a:srgbClr val="27251E"/>
                </a:solidFill>
                <a:effectLst/>
                <a:latin typeface="pplxSerif"/>
              </a:rPr>
              <a:t>(On the Point)</a:t>
            </a:r>
            <a:endParaRPr lang="ko-KR" altLang="en-US" sz="1100" b="1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영어 관련 직무는 보통 “영어를 할 수 </a:t>
            </a:r>
            <a:r>
              <a:rPr lang="ko-KR" altLang="en-US" sz="1100" b="0" i="0" dirty="0" err="1">
                <a:solidFill>
                  <a:srgbClr val="27251E"/>
                </a:solidFill>
                <a:effectLst/>
                <a:latin typeface="pplxSerif"/>
              </a:rPr>
              <a:t>있나”보다</a:t>
            </a: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 </a:t>
            </a:r>
            <a:r>
              <a:rPr lang="ko-KR" altLang="en-US" sz="1100" b="1" i="0" dirty="0">
                <a:solidFill>
                  <a:srgbClr val="FF0000"/>
                </a:solidFill>
                <a:effectLst/>
                <a:latin typeface="pplxSerif"/>
              </a:rPr>
              <a:t>“어떤 수준으로</a:t>
            </a:r>
            <a:r>
              <a:rPr lang="en-US" altLang="ko-KR" sz="1100" b="1" i="0" dirty="0">
                <a:solidFill>
                  <a:srgbClr val="FF0000"/>
                </a:solidFill>
                <a:effectLst/>
                <a:latin typeface="pplxSerif"/>
              </a:rPr>
              <a:t>, </a:t>
            </a:r>
            <a:r>
              <a:rPr lang="ko-KR" altLang="en-US" sz="1100" b="1" i="0" dirty="0">
                <a:solidFill>
                  <a:srgbClr val="FF0000"/>
                </a:solidFill>
                <a:effectLst/>
                <a:latin typeface="pplxSerif"/>
              </a:rPr>
              <a:t>어떤 상황에서</a:t>
            </a:r>
            <a:r>
              <a:rPr lang="en-US" altLang="ko-KR" sz="1100" b="1" i="0" dirty="0">
                <a:solidFill>
                  <a:srgbClr val="FF0000"/>
                </a:solidFill>
                <a:effectLst/>
                <a:latin typeface="pplxSerif"/>
              </a:rPr>
              <a:t>, </a:t>
            </a:r>
            <a:r>
              <a:rPr lang="ko-KR" altLang="en-US" sz="1100" b="1" i="0" dirty="0">
                <a:solidFill>
                  <a:srgbClr val="FF0000"/>
                </a:solidFill>
                <a:effectLst/>
                <a:latin typeface="pplxSerif"/>
              </a:rPr>
              <a:t>어떤 품질로 할 수 있나”를 보게 됩니다</a:t>
            </a:r>
            <a:r>
              <a:rPr lang="en-US" altLang="ko-KR" sz="1100" b="1" i="0" dirty="0">
                <a:solidFill>
                  <a:srgbClr val="FF0000"/>
                </a:solidFill>
                <a:effectLst/>
                <a:latin typeface="pplxSerif"/>
              </a:rPr>
              <a:t>.</a:t>
            </a:r>
            <a:br>
              <a:rPr lang="en-US" altLang="ko-KR" sz="1100" b="1" i="0" dirty="0">
                <a:solidFill>
                  <a:srgbClr val="FF0000"/>
                </a:solidFill>
                <a:effectLst/>
                <a:latin typeface="pplxSerif"/>
              </a:rPr>
            </a:br>
            <a:r>
              <a:rPr lang="en-US" altLang="ko-KR" sz="1050" b="1" i="0" dirty="0">
                <a:effectLst/>
                <a:latin typeface="pplxSerif"/>
              </a:rPr>
              <a:t>“</a:t>
            </a:r>
            <a:r>
              <a:rPr lang="ko-KR" altLang="en-US" sz="1050" b="0" i="1" dirty="0">
                <a:effectLst/>
                <a:latin typeface="pplxSerif"/>
              </a:rPr>
              <a:t>예를 들어 해외영업은 이메일과 미팅 대응</a:t>
            </a:r>
            <a:r>
              <a:rPr lang="en-US" altLang="ko-KR" sz="1050" b="0" i="1" dirty="0">
                <a:effectLst/>
                <a:latin typeface="pplxSerif"/>
              </a:rPr>
              <a:t>, CSR</a:t>
            </a:r>
            <a:r>
              <a:rPr lang="ko-KR" altLang="en-US" sz="1050" b="0" i="1" dirty="0">
                <a:effectLst/>
                <a:latin typeface="pplxSerif"/>
              </a:rPr>
              <a:t>은 전화</a:t>
            </a:r>
            <a:r>
              <a:rPr lang="en-US" altLang="ko-KR" sz="1050" b="0" i="1" dirty="0">
                <a:effectLst/>
                <a:latin typeface="pplxSerif"/>
              </a:rPr>
              <a:t>·</a:t>
            </a:r>
            <a:r>
              <a:rPr lang="ko-KR" altLang="en-US" sz="1050" b="0" i="1" dirty="0">
                <a:effectLst/>
                <a:latin typeface="pplxSerif"/>
              </a:rPr>
              <a:t>채팅 응대</a:t>
            </a:r>
            <a:r>
              <a:rPr lang="en-US" altLang="ko-KR" sz="1050" b="0" i="1" dirty="0">
                <a:effectLst/>
                <a:latin typeface="pplxSerif"/>
              </a:rPr>
              <a:t>, </a:t>
            </a:r>
            <a:r>
              <a:rPr lang="ko-KR" altLang="en-US" sz="1050" b="0" i="1" dirty="0">
                <a:effectLst/>
                <a:latin typeface="pplxSerif"/>
              </a:rPr>
              <a:t>연구</a:t>
            </a:r>
            <a:r>
              <a:rPr lang="en-US" altLang="ko-KR" sz="1050" b="0" i="1" dirty="0">
                <a:effectLst/>
                <a:latin typeface="pplxSerif"/>
              </a:rPr>
              <a:t>·</a:t>
            </a:r>
            <a:r>
              <a:rPr lang="ko-KR" altLang="en-US" sz="1050" b="0" i="1" dirty="0">
                <a:effectLst/>
                <a:latin typeface="pplxSerif"/>
              </a:rPr>
              <a:t>행정은 </a:t>
            </a:r>
            <a:r>
              <a:rPr lang="ko-KR" altLang="en-US" sz="1050" b="0" i="1" dirty="0">
                <a:solidFill>
                  <a:srgbClr val="27251E"/>
                </a:solidFill>
                <a:effectLst/>
                <a:latin typeface="pplxSerif"/>
              </a:rPr>
              <a:t>문서 읽기와 작성 능력을 각각 다르게 평가할 수 있습니다</a:t>
            </a:r>
            <a:r>
              <a:rPr lang="en-US" altLang="ko-KR" sz="1050" b="0" i="1" dirty="0">
                <a:solidFill>
                  <a:srgbClr val="27251E"/>
                </a:solidFill>
                <a:effectLst/>
                <a:latin typeface="pplxSerif"/>
              </a:rPr>
              <a:t>.”</a:t>
            </a:r>
            <a:endParaRPr lang="en-US" altLang="ko-KR" sz="1100" b="0" i="1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endParaRPr lang="en-US" altLang="ko-KR" sz="1100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buNone/>
            </a:pPr>
            <a:r>
              <a:rPr lang="ko-KR" altLang="en-US" sz="1100" b="1" i="0" dirty="0">
                <a:solidFill>
                  <a:srgbClr val="27251E"/>
                </a:solidFill>
                <a:effectLst/>
                <a:latin typeface="pplxSerif"/>
              </a:rPr>
              <a:t>추천 평가 항목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이메일 작성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비즈니스 전화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/</a:t>
            </a: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회의 응대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문서 요약 및 </a:t>
            </a:r>
            <a:r>
              <a:rPr lang="ko-KR" altLang="en-US" sz="1100" b="0" i="0" dirty="0" err="1">
                <a:solidFill>
                  <a:srgbClr val="27251E"/>
                </a:solidFill>
                <a:effectLst/>
                <a:latin typeface="pplxSerif"/>
              </a:rPr>
              <a:t>리라이팅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읽기 이해와 어휘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27251E"/>
                </a:solidFill>
                <a:effectLst/>
                <a:latin typeface="pplxSerif"/>
              </a:rPr>
              <a:t>직무별 상황대처 말하기</a:t>
            </a:r>
            <a:r>
              <a:rPr lang="en-US" altLang="ko-KR" sz="1100" b="0" i="0" dirty="0">
                <a:solidFill>
                  <a:srgbClr val="27251E"/>
                </a:solidFill>
                <a:effectLst/>
                <a:latin typeface="pplxSerif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E0A165C-4A01-5747-D1BF-0085B945A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" y="1238404"/>
            <a:ext cx="7269163" cy="32667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FF9067B-2E0B-0C5D-0974-29D2E9D4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6608"/>
            <a:ext cx="7269163" cy="118425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1036F2-CBE8-6EB3-80CA-41533EE72387}"/>
              </a:ext>
            </a:extLst>
          </p:cNvPr>
          <p:cNvSpPr/>
          <p:nvPr/>
        </p:nvSpPr>
        <p:spPr>
          <a:xfrm>
            <a:off x="3305175" y="5029201"/>
            <a:ext cx="3781425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DA021D-B62D-6645-97E3-EE644F980266}"/>
              </a:ext>
            </a:extLst>
          </p:cNvPr>
          <p:cNvSpPr/>
          <p:nvPr/>
        </p:nvSpPr>
        <p:spPr>
          <a:xfrm>
            <a:off x="320040" y="5438776"/>
            <a:ext cx="3347085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8FA9AE-A0C0-3B0D-2113-76B2AF5B7158}"/>
              </a:ext>
            </a:extLst>
          </p:cNvPr>
          <p:cNvSpPr/>
          <p:nvPr/>
        </p:nvSpPr>
        <p:spPr>
          <a:xfrm>
            <a:off x="4735830" y="5248276"/>
            <a:ext cx="2350770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51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176</Words>
  <Application>Microsoft Office PowerPoint</Application>
  <PresentationFormat>사용자 지정</PresentationFormat>
  <Paragraphs>24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pplxSerif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준호 조</cp:lastModifiedBy>
  <cp:revision>122</cp:revision>
  <dcterms:created xsi:type="dcterms:W3CDTF">2026-04-02T05:24:56Z</dcterms:created>
  <dcterms:modified xsi:type="dcterms:W3CDTF">2026-04-09T04:48:01Z</dcterms:modified>
</cp:coreProperties>
</file>